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photo, made from a 45-second iPhone video of the O'Connor lobby. The furniture on the upper floor is sharp and the floor below is blurred, like a tilt-shift lens. There's no blur filter: the blur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lens adds up the views from every point across its opening. Moving the phone in a spiral collects those views one frame at a time, from an opening about an arm's length wide. Line the frames up on one plane and average: that plane stays sharp and everything else blurs by its parallax, the same circle-of-confusion formula as a real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this by hand. Load the frames as layers in Photoshop. Averaged as shot, nothing lines up. Nudge each layer so the sofa overlaps, average again, and the sofa is sharp while the table on the floor below smears. To tilt the plane you'd drag four corners of every layer instead, which is too tedious for two hundred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program does the lining up from geometry. COLMAP works out where the phone was in every frame, so the warp for any plane can be computed, including tilted planes and planes with nothing on them to line up by eye. Same video, two focus planes: the floor below, or tilted along the upper floor. You can try it live at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aperture-tilt-shift.vercel.app" TargetMode="External"/><Relationship Id="rId1" Type="http://schemas.openxmlformats.org/officeDocument/2006/relationships/image" Target="../media/image-4-1.jpg"/><Relationship Id="rId2" Type="http://schemas.openxmlformats.org/officeDocument/2006/relationships/image" Target="../media/image-4-2.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private/tmp/claude-501/-Users-dkuo-repos-aperture-tilt-shift/26bcd160-faa5-4150-8c35-e5325aed8cfb/scratchpad/slides/s1_final.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31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F2F2F2"/>
                </a:solidFill>
                <a:latin typeface="Calibri" pitchFamily="34" charset="0"/>
                <a:ea typeface="Calibri" pitchFamily="34" charset="-122"/>
                <a:cs typeface="Calibri" pitchFamily="34" charset="-120"/>
              </a:rPr>
              <a:t>A video sweep is a big lens</a:t>
            </a:r>
            <a:endParaRPr lang="en-US" sz="3000" dirty="0"/>
          </a:p>
        </p:txBody>
      </p:sp>
      <p:pic>
        <p:nvPicPr>
          <p:cNvPr id="3" name="Image 0" descr="/private/tmp/claude-501/-Users-dkuo-repos-aperture-tilt-shift/26bcd160-faa5-4150-8c35-e5325aed8cfb/scratchpad/slides/s2_path.png">    </p:cNvPr>
          <p:cNvPicPr>
            <a:picLocks noChangeAspect="1"/>
          </p:cNvPicPr>
          <p:nvPr/>
        </p:nvPicPr>
        <p:blipFill>
          <a:blip r:embed="rId1"/>
          <a:stretch>
            <a:fillRect/>
          </a:stretch>
        </p:blipFill>
        <p:spPr>
          <a:xfrm>
            <a:off x="457200" y="1097280"/>
            <a:ext cx="3291840" cy="3291840"/>
          </a:xfrm>
          <a:prstGeom prst="rect">
            <a:avLst/>
          </a:prstGeom>
        </p:spPr>
      </p:pic>
      <p:sp>
        <p:nvSpPr>
          <p:cNvPr id="4" name="Text 1"/>
          <p:cNvSpPr txBox="1"/>
          <p:nvPr/>
        </p:nvSpPr>
        <p:spPr>
          <a:xfrm>
            <a:off x="457200" y="4480560"/>
            <a:ext cx="3291840" cy="32004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Where the phone was in each of 213 frames</a:t>
            </a:r>
            <a:endParaRPr lang="en-US" sz="1300" dirty="0"/>
          </a:p>
        </p:txBody>
      </p:sp>
      <p:sp>
        <p:nvSpPr>
          <p:cNvPr id="5" name="Text 2"/>
          <p:cNvSpPr txBox="1"/>
          <p:nvPr/>
        </p:nvSpPr>
        <p:spPr>
          <a:xfrm>
            <a:off x="4297680" y="1234440"/>
            <a:ext cx="365760" cy="548640"/>
          </a:xfrm>
          <a:prstGeom prst="rect">
            <a:avLst/>
          </a:prstGeom>
          <a:noFill/>
          <a:ln/>
        </p:spPr>
        <p:txBody>
          <a:bodyPr wrap="square" lIns="0" tIns="0" rIns="0" bIns="0" rtlCol="0" anchor="t"/>
          <a:lstStyle/>
          <a:p>
            <a:pPr indent="0" marL="0">
              <a:buNone/>
            </a:pPr>
            <a:r>
              <a:rPr lang="en-US" sz="2400" b="1" dirty="0">
                <a:solidFill>
                  <a:srgbClr val="E8A33D"/>
                </a:solidFill>
                <a:latin typeface="Calibri" pitchFamily="34" charset="0"/>
                <a:ea typeface="Calibri" pitchFamily="34" charset="-122"/>
                <a:cs typeface="Calibri" pitchFamily="34" charset="-120"/>
              </a:rPr>
              <a:t>1</a:t>
            </a:r>
            <a:endParaRPr lang="en-US" sz="2400" dirty="0"/>
          </a:p>
        </p:txBody>
      </p:sp>
      <p:sp>
        <p:nvSpPr>
          <p:cNvPr id="6" name="Text 3"/>
          <p:cNvSpPr txBox="1"/>
          <p:nvPr/>
        </p:nvSpPr>
        <p:spPr>
          <a:xfrm>
            <a:off x="4709160" y="1261872"/>
            <a:ext cx="3977640" cy="640080"/>
          </a:xfrm>
          <a:prstGeom prst="rect">
            <a:avLst/>
          </a:prstGeom>
          <a:noFill/>
          <a:ln/>
        </p:spPr>
        <p:txBody>
          <a:bodyPr wrap="square" lIns="0" tIns="0" rIns="0" bIns="0" rtlCol="0" anchor="t"/>
          <a:lstStyle/>
          <a:p>
            <a:pPr indent="0" marL="0">
              <a:buNone/>
            </a:pPr>
            <a:r>
              <a:rPr lang="en-US" sz="1800" dirty="0">
                <a:solidFill>
                  <a:srgbClr val="F2F2F2"/>
                </a:solidFill>
                <a:latin typeface="Calibri" pitchFamily="34" charset="0"/>
                <a:ea typeface="Calibri" pitchFamily="34" charset="-122"/>
                <a:cs typeface="Calibri" pitchFamily="34" charset="-120"/>
              </a:rPr>
              <a:t>Each frame is one view through a lens an arm's length wide</a:t>
            </a:r>
            <a:endParaRPr lang="en-US" sz="1800" dirty="0"/>
          </a:p>
        </p:txBody>
      </p:sp>
      <p:sp>
        <p:nvSpPr>
          <p:cNvPr id="7" name="Text 4"/>
          <p:cNvSpPr txBox="1"/>
          <p:nvPr/>
        </p:nvSpPr>
        <p:spPr>
          <a:xfrm>
            <a:off x="4297680" y="2011680"/>
            <a:ext cx="365760" cy="548640"/>
          </a:xfrm>
          <a:prstGeom prst="rect">
            <a:avLst/>
          </a:prstGeom>
          <a:noFill/>
          <a:ln/>
        </p:spPr>
        <p:txBody>
          <a:bodyPr wrap="square" lIns="0" tIns="0" rIns="0" bIns="0" rtlCol="0" anchor="t"/>
          <a:lstStyle/>
          <a:p>
            <a:pPr indent="0" marL="0">
              <a:buNone/>
            </a:pPr>
            <a:r>
              <a:rPr lang="en-US" sz="2400" b="1" dirty="0">
                <a:solidFill>
                  <a:srgbClr val="E8A33D"/>
                </a:solidFill>
                <a:latin typeface="Calibri" pitchFamily="34" charset="0"/>
                <a:ea typeface="Calibri" pitchFamily="34" charset="-122"/>
                <a:cs typeface="Calibri" pitchFamily="34" charset="-120"/>
              </a:rPr>
              <a:t>2</a:t>
            </a:r>
            <a:endParaRPr lang="en-US" sz="2400" dirty="0"/>
          </a:p>
        </p:txBody>
      </p:sp>
      <p:sp>
        <p:nvSpPr>
          <p:cNvPr id="8" name="Text 5"/>
          <p:cNvSpPr txBox="1"/>
          <p:nvPr/>
        </p:nvSpPr>
        <p:spPr>
          <a:xfrm>
            <a:off x="4709160" y="2039112"/>
            <a:ext cx="3977640" cy="640080"/>
          </a:xfrm>
          <a:prstGeom prst="rect">
            <a:avLst/>
          </a:prstGeom>
          <a:noFill/>
          <a:ln/>
        </p:spPr>
        <p:txBody>
          <a:bodyPr wrap="square" lIns="0" tIns="0" rIns="0" bIns="0" rtlCol="0" anchor="t"/>
          <a:lstStyle/>
          <a:p>
            <a:pPr indent="0" marL="0">
              <a:buNone/>
            </a:pPr>
            <a:r>
              <a:rPr lang="en-US" sz="1800" dirty="0">
                <a:solidFill>
                  <a:srgbClr val="F2F2F2"/>
                </a:solidFill>
                <a:latin typeface="Calibri" pitchFamily="34" charset="0"/>
                <a:ea typeface="Calibri" pitchFamily="34" charset="-122"/>
                <a:cs typeface="Calibri" pitchFamily="34" charset="-120"/>
              </a:rPr>
              <a:t>Line the frames up on one plane, then average them</a:t>
            </a:r>
            <a:endParaRPr lang="en-US" sz="1800" dirty="0"/>
          </a:p>
        </p:txBody>
      </p:sp>
      <p:sp>
        <p:nvSpPr>
          <p:cNvPr id="9" name="Text 6"/>
          <p:cNvSpPr txBox="1"/>
          <p:nvPr/>
        </p:nvSpPr>
        <p:spPr>
          <a:xfrm>
            <a:off x="4297680" y="2788920"/>
            <a:ext cx="365760" cy="548640"/>
          </a:xfrm>
          <a:prstGeom prst="rect">
            <a:avLst/>
          </a:prstGeom>
          <a:noFill/>
          <a:ln/>
        </p:spPr>
        <p:txBody>
          <a:bodyPr wrap="square" lIns="0" tIns="0" rIns="0" bIns="0" rtlCol="0" anchor="t"/>
          <a:lstStyle/>
          <a:p>
            <a:pPr indent="0" marL="0">
              <a:buNone/>
            </a:pPr>
            <a:r>
              <a:rPr lang="en-US" sz="2400" b="1" dirty="0">
                <a:solidFill>
                  <a:srgbClr val="E8A33D"/>
                </a:solidFill>
                <a:latin typeface="Calibri" pitchFamily="34" charset="0"/>
                <a:ea typeface="Calibri" pitchFamily="34" charset="-122"/>
                <a:cs typeface="Calibri" pitchFamily="34" charset="-120"/>
              </a:rPr>
              <a:t>3</a:t>
            </a:r>
            <a:endParaRPr lang="en-US" sz="2400" dirty="0"/>
          </a:p>
        </p:txBody>
      </p:sp>
      <p:sp>
        <p:nvSpPr>
          <p:cNvPr id="10" name="Text 7"/>
          <p:cNvSpPr txBox="1"/>
          <p:nvPr/>
        </p:nvSpPr>
        <p:spPr>
          <a:xfrm>
            <a:off x="4709160" y="2816352"/>
            <a:ext cx="3977640" cy="640080"/>
          </a:xfrm>
          <a:prstGeom prst="rect">
            <a:avLst/>
          </a:prstGeom>
          <a:noFill/>
          <a:ln/>
        </p:spPr>
        <p:txBody>
          <a:bodyPr wrap="square" lIns="0" tIns="0" rIns="0" bIns="0" rtlCol="0" anchor="t"/>
          <a:lstStyle/>
          <a:p>
            <a:pPr indent="0" marL="0">
              <a:buNone/>
            </a:pPr>
            <a:r>
              <a:rPr lang="en-US" sz="1800" dirty="0">
                <a:solidFill>
                  <a:srgbClr val="F2F2F2"/>
                </a:solidFill>
                <a:latin typeface="Calibri" pitchFamily="34" charset="0"/>
                <a:ea typeface="Calibri" pitchFamily="34" charset="-122"/>
                <a:cs typeface="Calibri" pitchFamily="34" charset="-120"/>
              </a:rPr>
              <a:t>Everything off that plane blurs by its real parallax</a:t>
            </a:r>
            <a:endParaRPr lang="en-US" sz="1800" dirty="0"/>
          </a:p>
        </p:txBody>
      </p:sp>
      <p:sp>
        <p:nvSpPr>
          <p:cNvPr id="11" name="Text 8"/>
          <p:cNvSpPr txBox="1"/>
          <p:nvPr/>
        </p:nvSpPr>
        <p:spPr>
          <a:xfrm>
            <a:off x="4709160" y="3749040"/>
            <a:ext cx="3977640" cy="457200"/>
          </a:xfrm>
          <a:prstGeom prst="rect">
            <a:avLst/>
          </a:prstGeom>
          <a:noFill/>
          <a:ln/>
        </p:spPr>
        <p:txBody>
          <a:bodyPr wrap="square" lIns="0" tIns="0" rIns="0" bIns="0" rtlCol="0" anchor="ctr"/>
          <a:lstStyle/>
          <a:p>
            <a:pPr indent="0" marL="0">
              <a:buNone/>
            </a:pPr>
            <a:r>
              <a:rPr lang="en-US" sz="2200" i="1" dirty="0">
                <a:solidFill>
                  <a:srgbClr val="E8A33D"/>
                </a:solidFill>
                <a:latin typeface="Cambria" pitchFamily="34" charset="0"/>
                <a:ea typeface="Cambria" pitchFamily="34" charset="-122"/>
                <a:cs typeface="Cambria" pitchFamily="34" charset="-120"/>
              </a:rPr>
              <a:t>b = D · f · |1/z − 1/z</a:t>
            </a:r>
            <a:pPr indent="0" marL="0">
              <a:buNone/>
            </a:pPr>
            <a:r>
              <a:rPr lang="en-US" sz="2200" i="1" baseline="-40000" dirty="0">
                <a:solidFill>
                  <a:srgbClr val="E8A33D"/>
                </a:solidFill>
                <a:latin typeface="Cambria" pitchFamily="34" charset="0"/>
                <a:ea typeface="Cambria" pitchFamily="34" charset="-122"/>
                <a:cs typeface="Cambria" pitchFamily="34" charset="-120"/>
              </a:rPr>
              <a:t>0</a:t>
            </a:r>
            <a:pPr indent="0" marL="0">
              <a:buNone/>
            </a:pPr>
            <a:r>
              <a:rPr lang="en-US" sz="2200" i="1" dirty="0">
                <a:solidFill>
                  <a:srgbClr val="E8A33D"/>
                </a:solidFill>
                <a:latin typeface="Cambria" pitchFamily="34" charset="0"/>
                <a:ea typeface="Cambria" pitchFamily="34" charset="-122"/>
                <a:cs typeface="Cambria" pitchFamily="34" charset="-120"/>
              </a:rPr>
              <a:t>|</a:t>
            </a:r>
            <a:endParaRPr lang="en-US" sz="2200" dirty="0"/>
          </a:p>
        </p:txBody>
      </p:sp>
      <p:sp>
        <p:nvSpPr>
          <p:cNvPr id="12" name="Text 9"/>
          <p:cNvSpPr txBox="1"/>
          <p:nvPr/>
        </p:nvSpPr>
        <p:spPr>
          <a:xfrm>
            <a:off x="4709160" y="4206240"/>
            <a:ext cx="3977640" cy="32004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blur in pixels; D = sweep width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31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F2F2F2"/>
                </a:solidFill>
                <a:latin typeface="Calibri" pitchFamily="34" charset="0"/>
                <a:ea typeface="Calibri" pitchFamily="34" charset="-122"/>
                <a:cs typeface="Calibri" pitchFamily="34" charset="-120"/>
              </a:rPr>
              <a:t>By hand: stack, line up, average</a:t>
            </a:r>
            <a:endParaRPr lang="en-US" sz="3000" dirty="0"/>
          </a:p>
        </p:txBody>
      </p:sp>
      <p:pic>
        <p:nvPicPr>
          <p:cNvPr id="3" name="Image 0" descr="/private/tmp/claude-501/-Users-dkuo-repos-aperture-tilt-shift/26bcd160-faa5-4150-8c35-e5325aed8cfb/scratchpad/slides/s3_asshot.jpg">    </p:cNvPr>
          <p:cNvPicPr>
            <a:picLocks noChangeAspect="1"/>
          </p:cNvPicPr>
          <p:nvPr/>
        </p:nvPicPr>
        <p:blipFill>
          <a:blip r:embed="rId1"/>
          <a:stretch>
            <a:fillRect/>
          </a:stretch>
        </p:blipFill>
        <p:spPr>
          <a:xfrm>
            <a:off x="457200" y="1143000"/>
            <a:ext cx="3977640" cy="2684907"/>
          </a:xfrm>
          <a:prstGeom prst="rect">
            <a:avLst/>
          </a:prstGeom>
        </p:spPr>
      </p:pic>
      <p:pic>
        <p:nvPicPr>
          <p:cNvPr id="4" name="Image 1" descr="/private/tmp/claude-501/-Users-dkuo-repos-aperture-tilt-shift/26bcd160-faa5-4150-8c35-e5325aed8cfb/scratchpad/slides/s3_aligned.jpg">    </p:cNvPr>
          <p:cNvPicPr>
            <a:picLocks noChangeAspect="1"/>
          </p:cNvPicPr>
          <p:nvPr/>
        </p:nvPicPr>
        <p:blipFill>
          <a:blip r:embed="rId2"/>
          <a:stretch>
            <a:fillRect/>
          </a:stretch>
        </p:blipFill>
        <p:spPr>
          <a:xfrm>
            <a:off x="4709160" y="1143000"/>
            <a:ext cx="3977640" cy="2684907"/>
          </a:xfrm>
          <a:prstGeom prst="rect">
            <a:avLst/>
          </a:prstGeom>
        </p:spPr>
      </p:pic>
      <p:sp>
        <p:nvSpPr>
          <p:cNvPr id="5" name="Text 1"/>
          <p:cNvSpPr txBox="1"/>
          <p:nvPr/>
        </p:nvSpPr>
        <p:spPr>
          <a:xfrm>
            <a:off x="457200" y="3937635"/>
            <a:ext cx="3977640" cy="32004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Frames averaged as shot</a:t>
            </a:r>
            <a:endParaRPr lang="en-US" sz="1300" dirty="0"/>
          </a:p>
        </p:txBody>
      </p:sp>
      <p:sp>
        <p:nvSpPr>
          <p:cNvPr id="6" name="Text 2"/>
          <p:cNvSpPr txBox="1"/>
          <p:nvPr/>
        </p:nvSpPr>
        <p:spPr>
          <a:xfrm>
            <a:off x="4709160" y="3937635"/>
            <a:ext cx="3977640" cy="32004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Nudged so the sofa lines up, then averaged</a:t>
            </a:r>
            <a:endParaRPr lang="en-US" sz="1300" dirty="0"/>
          </a:p>
        </p:txBody>
      </p:sp>
      <p:sp>
        <p:nvSpPr>
          <p:cNvPr id="7" name="Text 3"/>
          <p:cNvSpPr txBox="1"/>
          <p:nvPr/>
        </p:nvSpPr>
        <p:spPr>
          <a:xfrm>
            <a:off x="457200" y="4434840"/>
            <a:ext cx="8229600" cy="36576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Photoshop: frames as layers  →  line up the sofa  →  Stack Mode › Mean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31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F2F2F2"/>
                </a:solidFill>
                <a:latin typeface="Calibri" pitchFamily="34" charset="0"/>
                <a:ea typeface="Calibri" pitchFamily="34" charset="-122"/>
                <a:cs typeface="Calibri" pitchFamily="34" charset="-120"/>
              </a:rPr>
              <a:t>In code: any plane, after the shot</a:t>
            </a:r>
            <a:endParaRPr lang="en-US" sz="3000" dirty="0"/>
          </a:p>
        </p:txBody>
      </p:sp>
      <p:pic>
        <p:nvPicPr>
          <p:cNvPr id="3" name="Image 0" descr="/private/tmp/claude-501/-Users-dkuo-repos-aperture-tilt-shift/26bcd160-faa5-4150-8c35-e5325aed8cfb/scratchpad/slides/s4_lower.jpg">    </p:cNvPr>
          <p:cNvPicPr>
            <a:picLocks noChangeAspect="1"/>
          </p:cNvPicPr>
          <p:nvPr/>
        </p:nvPicPr>
        <p:blipFill>
          <a:blip r:embed="rId1"/>
          <a:stretch>
            <a:fillRect/>
          </a:stretch>
        </p:blipFill>
        <p:spPr>
          <a:xfrm>
            <a:off x="457200" y="1143000"/>
            <a:ext cx="3977640" cy="2237423"/>
          </a:xfrm>
          <a:prstGeom prst="rect">
            <a:avLst/>
          </a:prstGeom>
        </p:spPr>
      </p:pic>
      <p:pic>
        <p:nvPicPr>
          <p:cNvPr id="4" name="Image 1" descr="/private/tmp/claude-501/-Users-dkuo-repos-aperture-tilt-shift/26bcd160-faa5-4150-8c35-e5325aed8cfb/scratchpad/slides/s4_tilt26.jpg">    </p:cNvPr>
          <p:cNvPicPr>
            <a:picLocks noChangeAspect="1"/>
          </p:cNvPicPr>
          <p:nvPr/>
        </p:nvPicPr>
        <p:blipFill>
          <a:blip r:embed="rId2"/>
          <a:stretch>
            <a:fillRect/>
          </a:stretch>
        </p:blipFill>
        <p:spPr>
          <a:xfrm>
            <a:off x="4709160" y="1143000"/>
            <a:ext cx="3977640" cy="2237423"/>
          </a:xfrm>
          <a:prstGeom prst="rect">
            <a:avLst/>
          </a:prstGeom>
        </p:spPr>
      </p:pic>
      <p:sp>
        <p:nvSpPr>
          <p:cNvPr id="5" name="Text 1"/>
          <p:cNvSpPr txBox="1"/>
          <p:nvPr/>
        </p:nvSpPr>
        <p:spPr>
          <a:xfrm>
            <a:off x="457200" y="3490151"/>
            <a:ext cx="3977640" cy="32004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Focused on the floor below</a:t>
            </a:r>
            <a:endParaRPr lang="en-US" sz="1300" dirty="0"/>
          </a:p>
        </p:txBody>
      </p:sp>
      <p:sp>
        <p:nvSpPr>
          <p:cNvPr id="6" name="Text 2"/>
          <p:cNvSpPr txBox="1"/>
          <p:nvPr/>
        </p:nvSpPr>
        <p:spPr>
          <a:xfrm>
            <a:off x="4709160" y="3490151"/>
            <a:ext cx="3977640" cy="32004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Focus plane tilted 26° along the upper floor</a:t>
            </a:r>
            <a:endParaRPr lang="en-US" sz="1300" dirty="0"/>
          </a:p>
        </p:txBody>
      </p:sp>
      <p:sp>
        <p:nvSpPr>
          <p:cNvPr id="7" name="Text 3"/>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COLMAP recovers where the phone was, so the warp for any plane is computed.</a:t>
            </a:r>
            <a:endParaRPr lang="en-US" sz="1500" dirty="0"/>
          </a:p>
        </p:txBody>
      </p:sp>
      <p:sp>
        <p:nvSpPr>
          <p:cNvPr id="8" name="Text 4">
            <a:hlinkClick r:id="rId3" tooltip=""/>
          </p:cNvPr>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300" u="sng" dirty="0">
                <a:solidFill>
                  <a:srgbClr val="E8A33D"/>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aperture-tilt-shift.vercel.app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Aperture Tilt-Shift</dc:title>
  <dc:subject>PptxGenJS Presentation</dc:subject>
  <dc:creator>Daniel Kuo</dc:creator>
  <cp:lastModifiedBy>Daniel Kuo</cp:lastModifiedBy>
  <cp:revision>1</cp:revision>
  <dcterms:created xsi:type="dcterms:W3CDTF">2026-09-29T03:50:57Z</dcterms:created>
  <dcterms:modified xsi:type="dcterms:W3CDTF">2026-09-29T03:50:57Z</dcterms:modified>
</cp:coreProperties>
</file>